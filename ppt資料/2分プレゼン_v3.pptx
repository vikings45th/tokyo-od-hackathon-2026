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誤差</c:v>
                </c:pt>
              </c:strCache>
            </c:strRef>
          </c:tx>
          <c:dPt>
            <c:idx val="0"/>
            <c:spPr>
              <a:solidFill>
                <a:srgbClr val="86B6EF"/>
              </a:solidFill>
            </c:spPr>
          </c:dPt>
          <c:dPt>
            <c:idx val="1"/>
            <c:spPr>
              <a:solidFill>
                <a:srgbClr val="1C5CAB"/>
              </a:solidFill>
            </c:spPr>
          </c:dPt>
          <c:cat>
            <c:strRef>
              <c:f>Sheet1!$A$2:$A$3</c:f>
              <c:strCache>
                <c:ptCount val="2"/>
                <c:pt idx="0">
                  <c:v>1年先</c:v>
                </c:pt>
                <c:pt idx="1">
                  <c:v>2年先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0.93</c:v>
                </c:pt>
                <c:pt idx="1">
                  <c:v>1.37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sz="1700" b="1">
                  <a:solidFill>
                    <a:srgbClr val="0D366B"/>
                  </a:solidFill>
                  <a:latin typeface="Meiryo UI"/>
                  <a:ea typeface="Meiryo UI"/>
                  <a:cs typeface="Meiryo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5D1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A1A1A"/>
          </a:solidFill>
          <a:latin typeface="Meiryo UI"/>
          <a:ea typeface="Meiryo UI"/>
          <a:cs typeface="Meiryo UI"/>
        </a:defRPr>
      </a:pPr>
      <a:endParaRPr lang="en-US">
        <a:latin typeface="Meiryo UI"/>
        <a:ea typeface="Meiryo UI"/>
        <a:cs typeface="Meiryo UI"/>
      </a:endParaRPr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600" b="1">
                <a:solidFill>
                  <a:srgbClr val="1C5CAB"/>
                </a:solidFill>
                <a:latin typeface="Meiryo UI"/>
                <a:ea typeface="Meiryo UI"/>
                <a:cs typeface="Meiryo UI"/>
              </a:rPr>
              <a:t>共働き世帯の両立を阻むものが、保育園から小学校に移った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225296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5A5A5A"/>
                </a:solidFill>
                <a:latin typeface="Meiryo UI"/>
                <a:ea typeface="Meiryo UI"/>
                <a:cs typeface="Meiryo UI"/>
              </a:rPr>
              <a:t>東京49自治体・2025年5月1日時点の実測と、受け皿を据え置いた場合の試算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755648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5A5A5A"/>
                </a:solidFill>
                <a:latin typeface="Meiryo UI"/>
                <a:ea typeface="Meiryo UI"/>
                <a:cs typeface="Meiryo UI"/>
              </a:rPr>
              <a:t>共働き・子育て世帯が抱える課題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5029200" cy="54864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5A5A5A"/>
                </a:solidFill>
                <a:latin typeface="Meiryo UI"/>
                <a:ea typeface="Meiryo UI"/>
                <a:cs typeface="Meiryo UI"/>
              </a:rPr>
              <a:t>仕事と育児の両立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69848" y="2633472"/>
            <a:ext cx="0" cy="164591"/>
          </a:xfrm>
          <a:prstGeom prst="line">
            <a:avLst/>
          </a:prstGeom>
          <a:ln w="22225">
            <a:solidFill>
              <a:srgbClr val="5598E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932688" y="2798063"/>
            <a:ext cx="4297680" cy="548640"/>
          </a:xfrm>
          <a:prstGeom prst="rect">
            <a:avLst/>
          </a:prstGeom>
          <a:solidFill>
            <a:srgbClr val="EC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D366B"/>
                </a:solidFill>
                <a:latin typeface="Meiryo UI"/>
                <a:ea typeface="Meiryo UI"/>
                <a:cs typeface="Meiryo UI"/>
              </a:rPr>
              <a:t>小学校に上がる時点の断絶（「小1の壁」）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435608" y="3346703"/>
            <a:ext cx="0" cy="164593"/>
          </a:xfrm>
          <a:prstGeom prst="line">
            <a:avLst/>
          </a:prstGeom>
          <a:ln w="22225">
            <a:solidFill>
              <a:srgbClr val="5598E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298448" y="3511296"/>
            <a:ext cx="3566160" cy="548640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その街で、学童に入れるか　← v1 が解く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370832"/>
            <a:ext cx="50292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5A5A5A"/>
                </a:solidFill>
                <a:latin typeface="Meiryo UI"/>
                <a:ea typeface="Meiryo UI"/>
                <a:cs typeface="Meiryo UI"/>
              </a:rPr>
              <a:t>保育所の待機は都の施策で大きく前進した。</a:t>
            </a:r>
          </a:p>
          <a:p>
            <a:pPr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5A5A5A"/>
                </a:solidFill>
                <a:latin typeface="Meiryo UI"/>
                <a:ea typeface="Meiryo UI"/>
                <a:cs typeface="Meiryo UI"/>
              </a:rPr>
              <a:t>次に来るのが、小学校に上がる時点の断絶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70448" y="1755648"/>
            <a:ext cx="0" cy="3200400"/>
          </a:xfrm>
          <a:prstGeom prst="line">
            <a:avLst/>
          </a:prstGeom>
          <a:ln w="12700">
            <a:solidFill>
              <a:srgbClr val="D5D5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44768" y="1755648"/>
            <a:ext cx="54772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5A5A5A"/>
                </a:solidFill>
                <a:latin typeface="Meiryo UI"/>
                <a:ea typeface="Meiryo UI"/>
                <a:cs typeface="Meiryo UI"/>
              </a:rPr>
              <a:t>その規模（都の公開データで実測）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4768" y="2084831"/>
            <a:ext cx="50292" cy="841248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5060" y="2084831"/>
            <a:ext cx="5426964" cy="841248"/>
          </a:xfrm>
          <a:prstGeom prst="rect">
            <a:avLst/>
          </a:prstGeom>
          <a:solidFill>
            <a:srgbClr val="EC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176272"/>
            <a:ext cx="1965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C5CAB"/>
                </a:solidFill>
                <a:latin typeface="Meiryo UI"/>
                <a:ea typeface="Meiryo UI"/>
                <a:cs typeface="Meiryo UI"/>
              </a:rPr>
              <a:t>146,393人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176272"/>
            <a:ext cx="3063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学童に登録している児童。公立小学校児童 589,912人の 4人に1人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sz="850" b="0">
                <a:solidFill>
                  <a:srgbClr val="9A9A9A"/>
                </a:solidFill>
                <a:latin typeface="Meiryo UI"/>
                <a:ea typeface="Meiryo UI"/>
                <a:cs typeface="Meiryo UI"/>
              </a:rPr>
              <a:t>2025年5月1日・49自治体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44768" y="3072384"/>
            <a:ext cx="50292" cy="841248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5060" y="3072384"/>
            <a:ext cx="5426964" cy="841248"/>
          </a:xfrm>
          <a:prstGeom prst="rect">
            <a:avLst/>
          </a:prstGeom>
          <a:solidFill>
            <a:srgbClr val="EC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163824"/>
            <a:ext cx="1965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C5CAB"/>
                </a:solidFill>
                <a:latin typeface="Meiryo UI"/>
                <a:ea typeface="Meiryo UI"/>
                <a:cs typeface="Meiryo UI"/>
              </a:rPr>
              <a:t>+5.9%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163824"/>
            <a:ext cx="3063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2年で増えた学童の需要（登録＋待機）。同じ2年で児童数は −0.8%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sz="850" b="0">
                <a:solidFill>
                  <a:srgbClr val="9A9A9A"/>
                </a:solidFill>
                <a:latin typeface="Meiryo UI"/>
                <a:ea typeface="Meiryo UI"/>
                <a:cs typeface="Meiryo UI"/>
              </a:rPr>
              <a:t>2023年5月→2025年5月・48自治体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4768" y="4059935"/>
            <a:ext cx="50292" cy="841248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5060" y="4059935"/>
            <a:ext cx="5426964" cy="841248"/>
          </a:xfrm>
          <a:prstGeom prst="rect">
            <a:avLst/>
          </a:prstGeom>
          <a:solidFill>
            <a:srgbClr val="EC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151375"/>
            <a:ext cx="1965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C5CAB"/>
                </a:solidFill>
                <a:latin typeface="Meiryo UI"/>
                <a:ea typeface="Meiryo UI"/>
                <a:cs typeface="Meiryo UI"/>
              </a:rPr>
              <a:t>19,573人分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151375"/>
            <a:ext cx="3063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受け皿が今のままなら、2038年度に足りない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sz="850" b="0">
                <a:solidFill>
                  <a:srgbClr val="9A9A9A"/>
                </a:solidFill>
                <a:latin typeface="Meiryo UI"/>
                <a:ea typeface="Meiryo UI"/>
                <a:cs typeface="Meiryo UI"/>
              </a:rPr>
              <a:t>本サービスの試算・46/49自治体で不足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5230368"/>
            <a:ext cx="11057839" cy="566928"/>
          </a:xfrm>
          <a:prstGeom prst="rect">
            <a:avLst/>
          </a:prstGeom>
          <a:solidFill>
            <a:srgbClr val="EC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D366B"/>
                </a:solidFill>
                <a:latin typeface="Meiryo UI"/>
                <a:ea typeface="Meiryo UI"/>
                <a:cs typeface="Meiryo UI"/>
              </a:rPr>
              <a:t>保育園の壁は下がった。壁が消えたのではなく、小学校に移っただけ。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382512"/>
            <a:ext cx="10234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750" b="0">
                <a:solidFill>
                  <a:srgbClr val="9A9A9A"/>
                </a:solidFill>
                <a:latin typeface="Meiryo UI"/>
                <a:ea typeface="Meiryo UI"/>
                <a:cs typeface="Meiryo UI"/>
              </a:rPr>
              <a:t>出典：東京都福祉局「東京の学童クラブ事業実施状況」／東京都教育庁「教育人口等推計」（東京都オープンデータカタログ・CC BY 4.0）。需要の伸びは、計上方法が変わった江戸川区を除く48自治体で実測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76127" y="638251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9A9A"/>
                </a:solidFill>
                <a:latin typeface="Meiryo UI"/>
                <a:ea typeface="Meiryo UI"/>
                <a:cs typeface="Meiryo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600" b="1">
                <a:solidFill>
                  <a:srgbClr val="1C5CAB"/>
                </a:solidFill>
                <a:latin typeface="Meiryo UI"/>
                <a:ea typeface="Meiryo UI"/>
                <a:cs typeface="Meiryo UI"/>
              </a:rPr>
              <a:t>「小1の壁」の正体は、3つが同時に起きていること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225296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5A5A5A"/>
                </a:solidFill>
                <a:latin typeface="Meiryo UI"/>
                <a:ea typeface="Meiryo UI"/>
                <a:cs typeface="Meiryo UI"/>
              </a:rPr>
              <a:t>需要は増える／受け皿は増えない／それが数字に出ない。だから「今年の待機児童数」を見ても、自分の街の6年後は分からない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965960"/>
            <a:ext cx="3503066" cy="1572768"/>
          </a:xfrm>
          <a:prstGeom prst="rect">
            <a:avLst/>
          </a:prstGeom>
          <a:solidFill>
            <a:srgbClr val="EC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68096" y="2139696"/>
            <a:ext cx="310896" cy="310896"/>
          </a:xfrm>
          <a:prstGeom prst="ellipse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2176272"/>
            <a:ext cx="269839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D366B"/>
                </a:solidFill>
                <a:latin typeface="Meiryo UI"/>
                <a:ea typeface="Meiryo UI"/>
                <a:cs typeface="Meiryo UI"/>
              </a:rPr>
              <a:t>需要は増えている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615184"/>
            <a:ext cx="310073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共働きが増え、学童を使う子の割合は</a:t>
            </a:r>
          </a:p>
          <a:p>
            <a:pPr>
              <a:lnSpc>
                <a:spcPct val="13200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年 +0.81pt で上がり続けている。</a:t>
            </a:r>
          </a:p>
          <a:p>
            <a:pPr>
              <a:lnSpc>
                <a:spcPct val="13200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登録＋待機は2年で +5.9%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3236976"/>
            <a:ext cx="31007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9A9A"/>
                </a:solidFill>
                <a:latin typeface="Meiryo UI"/>
                <a:ea typeface="Meiryo UI"/>
                <a:cs typeface="Meiryo UI"/>
              </a:rPr>
              <a:t>48自治体・2023-05→2025-05 の実測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4314" y="1965960"/>
            <a:ext cx="3503066" cy="1572768"/>
          </a:xfrm>
          <a:prstGeom prst="rect">
            <a:avLst/>
          </a:prstGeom>
          <a:solidFill>
            <a:srgbClr val="EC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45482" y="2139696"/>
            <a:ext cx="310896" cy="310896"/>
          </a:xfrm>
          <a:prstGeom prst="ellipse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47818" y="2176272"/>
            <a:ext cx="269839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D366B"/>
                </a:solidFill>
                <a:latin typeface="Meiryo UI"/>
                <a:ea typeface="Meiryo UI"/>
                <a:cs typeface="Meiryo UI"/>
              </a:rPr>
              <a:t>受け皿は増えていない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5482" y="2615184"/>
            <a:ext cx="310073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2年でクラブが1つも増えていない自治体が</a:t>
            </a:r>
          </a:p>
          <a:p>
            <a:pPr>
              <a:lnSpc>
                <a:spcPct val="13200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25／49。うち6自治体は減っている</a:t>
            </a:r>
          </a:p>
          <a:p>
            <a:pPr>
              <a:lnSpc>
                <a:spcPct val="13200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（都計の増加は江戸川区がほぼ全部）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5482" y="3236976"/>
            <a:ext cx="31007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9A9A"/>
                </a:solidFill>
                <a:latin typeface="Meiryo UI"/>
                <a:ea typeface="Meiryo UI"/>
                <a:cs typeface="Meiryo UI"/>
              </a:rPr>
              <a:t>49自治体・クラブ数の実測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1700" y="1965960"/>
            <a:ext cx="3503066" cy="1572768"/>
          </a:xfrm>
          <a:prstGeom prst="rect">
            <a:avLst/>
          </a:prstGeom>
          <a:solidFill>
            <a:srgbClr val="EC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22868" y="2139696"/>
            <a:ext cx="310896" cy="310896"/>
          </a:xfrm>
          <a:prstGeom prst="ellipse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25204" y="2176272"/>
            <a:ext cx="269839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D366B"/>
                </a:solidFill>
                <a:latin typeface="Meiryo UI"/>
                <a:ea typeface="Meiryo UI"/>
                <a:cs typeface="Meiryo UI"/>
              </a:rPr>
              <a:t>それが数字に出ない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2868" y="2615184"/>
            <a:ext cx="310073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待機児童は49自治体のうち19がゼロ。</a:t>
            </a:r>
          </a:p>
          <a:p>
            <a:pPr>
              <a:lnSpc>
                <a:spcPct val="13200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申込前に断念した人は、登録にも</a:t>
            </a:r>
          </a:p>
          <a:p>
            <a:pPr>
              <a:lnSpc>
                <a:spcPct val="13200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待機にも計上されない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2868" y="3236976"/>
            <a:ext cx="31007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9A9A"/>
                </a:solidFill>
                <a:latin typeface="Meiryo UI"/>
                <a:ea typeface="Meiryo UI"/>
                <a:cs typeface="Meiryo UI"/>
              </a:rPr>
              <a:t>2025-05-01 の実測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730752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D366B"/>
                </a:solidFill>
                <a:latin typeface="Meiryo UI"/>
                <a:ea typeface="Meiryo UI"/>
                <a:cs typeface="Meiryo UI"/>
              </a:rPr>
              <a:t>だから、家を買う時点では、その街の6年後が分からない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17320" y="4846320"/>
            <a:ext cx="9326880" cy="0"/>
          </a:xfrm>
          <a:prstGeom prst="line">
            <a:avLst/>
          </a:prstGeom>
          <a:ln w="25400">
            <a:solidFill>
              <a:srgbClr val="D5D5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2112264" y="4718304"/>
            <a:ext cx="256032" cy="256032"/>
          </a:xfrm>
          <a:prstGeom prst="ellipse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096511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5A5A5A"/>
                </a:solidFill>
                <a:latin typeface="Meiryo UI"/>
                <a:ea typeface="Meiryo UI"/>
                <a:cs typeface="Meiryo UI"/>
              </a:rPr>
              <a:t>2026年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084064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5A5A5A"/>
                </a:solidFill>
                <a:latin typeface="Meiryo UI"/>
                <a:ea typeface="Meiryo UI"/>
                <a:cs typeface="Meiryo UI"/>
              </a:rPr>
              <a:t>第一子が0歳。住宅ローンを組む</a:t>
            </a:r>
          </a:p>
        </p:txBody>
      </p:sp>
      <p:sp>
        <p:nvSpPr>
          <p:cNvPr id="24" name="Oval 23"/>
          <p:cNvSpPr/>
          <p:nvPr/>
        </p:nvSpPr>
        <p:spPr>
          <a:xfrm>
            <a:off x="9793224" y="4718304"/>
            <a:ext cx="256032" cy="256032"/>
          </a:xfrm>
          <a:prstGeom prst="ellipse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79" y="4096511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0D366B"/>
                </a:solidFill>
                <a:latin typeface="Meiryo UI"/>
                <a:ea typeface="Meiryo UI"/>
                <a:cs typeface="Meiryo UI"/>
              </a:rPr>
              <a:t>2032年 4月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5084064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子が小1。学童に入れない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977639" y="4846320"/>
            <a:ext cx="5696713" cy="0"/>
          </a:xfrm>
          <a:prstGeom prst="line">
            <a:avLst/>
          </a:prstGeom>
          <a:ln w="31750">
            <a:solidFill>
              <a:srgbClr val="1C5CA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5577840" y="4617720"/>
            <a:ext cx="10515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1C5CAB"/>
                </a:solidFill>
                <a:latin typeface="Meiryo UI"/>
                <a:ea typeface="Meiryo UI"/>
                <a:cs typeface="Meiryo UI"/>
              </a:rPr>
              <a:t>6年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382512"/>
            <a:ext cx="10234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750" b="0">
                <a:solidFill>
                  <a:srgbClr val="9A9A9A"/>
                </a:solidFill>
                <a:latin typeface="Meiryo UI"/>
                <a:ea typeface="Meiryo UI"/>
                <a:cs typeface="Meiryo UI"/>
              </a:rPr>
              <a:t>出典：東京都福祉局「東京の学童クラブ事業実施状況」／東京都教育庁「教育人口等推計」／東京都教育庁「公立学校統計調査報告書（東京都公立学校一覧）」（いずれも東京都オープンデータカタログ・CC BY 4.0）。需要の伸びは src/core/trend.ts、受け皿と待機は data/app/data.json で再現できる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76127" y="638251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9A9A"/>
                </a:solidFill>
                <a:latin typeface="Meiryo UI"/>
                <a:ea typeface="Meiryo UI"/>
                <a:cs typeface="Meiryo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600" b="1">
                <a:solidFill>
                  <a:srgbClr val="1C5CAB"/>
                </a:solidFill>
                <a:latin typeface="Meiryo UI"/>
                <a:ea typeface="Meiryo UI"/>
                <a:cs typeface="Meiryo UI"/>
              </a:rPr>
              <a:t>生まれ年を入れるだけで、その子が小1になる年の東京が出る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C5CAB"/>
                </a:solidFill>
                <a:latin typeface="Meiryo UI"/>
                <a:ea typeface="Meiryo UI"/>
                <a:cs typeface="Meiryo UI"/>
              </a:rPr>
              <a:t>小1のまち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15768" y="1316736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5A5A"/>
                </a:solidFill>
                <a:latin typeface="Meiryo UI"/>
                <a:ea typeface="Meiryo UI"/>
                <a:cs typeface="Meiryo UI"/>
              </a:rPr>
              <a:t>東京49自治体 × 入学年度2027〜2038 ＝ 588通りを、1画面で比べる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828800"/>
            <a:ext cx="11057839" cy="4023360"/>
          </a:xfrm>
          <a:prstGeom prst="rect">
            <a:avLst/>
          </a:prstGeom>
          <a:solidFill>
            <a:srgbClr val="ECF2FB"/>
          </a:solidFill>
          <a:ln w="15875">
            <a:solidFill>
              <a:srgbClr val="5598E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1C5CAB"/>
                </a:solidFill>
                <a:latin typeface="Meiryo UI"/>
                <a:ea typeface="Meiryo UI"/>
                <a:cs typeface="Meiryo UI"/>
              </a:rPr>
              <a:t>▶ ここに実画面のキャプチャ／画面録画（全画面）</a:t>
            </a:r>
          </a:p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5A5A5A"/>
                </a:solidFill>
                <a:latin typeface="Meiryo UI"/>
                <a:ea typeface="Meiryo UI"/>
                <a:cs typeface="Meiryo UI"/>
              </a:rPr>
              <a:t>生まれ年を入れる → 地図が入学年度に切り替わる → 中央区を選ぶ →「882人分、足りない」→ 隣接区の比較。
動画では40秒。枠は 12.09 × 4.40 inch（比率 2.75 : 1）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7726679" y="2331720"/>
            <a:ext cx="3246120" cy="1188720"/>
          </a:xfrm>
          <a:prstGeom prst="rect">
            <a:avLst/>
          </a:prstGeom>
          <a:solidFill>
            <a:srgbClr val="FFFFFF"/>
          </a:solidFill>
          <a:ln w="22225">
            <a:solidFill>
              <a:srgbClr val="1C5C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Meiryo UI"/>
                <a:ea typeface="Meiryo UI"/>
                <a:cs typeface="Meiryo UI"/>
              </a:rPr>
              <a:t>2031年度・中央区</a:t>
            </a:r>
          </a:p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C5CAB"/>
                </a:solidFill>
                <a:latin typeface="Meiryo UI"/>
                <a:ea typeface="Meiryo UI"/>
                <a:cs typeface="Meiryo UI"/>
              </a:rPr>
              <a:t>882人分、足りない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A5A5A"/>
                </a:solidFill>
                <a:latin typeface="Meiryo UI"/>
                <a:ea typeface="Meiryo UI"/>
                <a:cs typeface="Meiryo UI"/>
              </a:rPr>
              <a:t>多く見れば 1,543人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6583680" y="2926080"/>
            <a:ext cx="1142999" cy="640080"/>
          </a:xfrm>
          <a:prstGeom prst="line">
            <a:avLst/>
          </a:prstGeom>
          <a:ln w="19050">
            <a:solidFill>
              <a:srgbClr val="1C5C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66928" y="5989320"/>
            <a:ext cx="11057839" cy="566928"/>
          </a:xfrm>
          <a:prstGeom prst="rect">
            <a:avLst/>
          </a:prstGeom>
          <a:solidFill>
            <a:srgbClr val="EC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D366B"/>
                </a:solidFill>
                <a:latin typeface="Meiryo UI"/>
                <a:ea typeface="Meiryo UI"/>
                <a:cs typeface="Meiryo UI"/>
              </a:rPr>
              <a:t>「今年の待機児童数」ではなく、「あなたの子が小1になる年」で並べ替える。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382512"/>
            <a:ext cx="10234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750" b="0">
                <a:solidFill>
                  <a:srgbClr val="9A9A9A"/>
                </a:solidFill>
                <a:latin typeface="Meiryo UI"/>
                <a:ea typeface="Meiryo UI"/>
                <a:cs typeface="Meiryo UI"/>
              </a:rPr>
              <a:t>出典：東京都福祉局「東京の学童クラブ事業実施状況」／東京都教育庁「教育人口等推計」／東京都教育庁「公立学校統計調査報告書（東京都公立学校一覧）」（いずれも東京都オープンデータカタログ・CC BY 4.0）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76127" y="638251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9A9A"/>
                </a:solidFill>
                <a:latin typeface="Meiryo UI"/>
                <a:ea typeface="Meiryo UI"/>
                <a:cs typeface="Meiryo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600" b="1">
                <a:solidFill>
                  <a:srgbClr val="1C5CAB"/>
                </a:solidFill>
                <a:latin typeface="Meiryo UI"/>
                <a:ea typeface="Meiryo UI"/>
                <a:cs typeface="Meiryo UI"/>
              </a:rPr>
              <a:t>都の公式データ3種を結合し、予測が外れる幅まで測っている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225296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5A5A5A"/>
                </a:solidFill>
                <a:latin typeface="Meiryo UI"/>
                <a:ea typeface="Meiryo UI"/>
                <a:cs typeface="Meiryo UI"/>
              </a:rPr>
              <a:t>49自治体 × 12年度 ＝ 588セル。サーバーもDBもAPIキーも使わず、すべてブラウザの中で計算する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810512"/>
            <a:ext cx="2476423" cy="50292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860804"/>
            <a:ext cx="2476423" cy="1170432"/>
          </a:xfrm>
          <a:prstGeom prst="rect">
            <a:avLst/>
          </a:prstGeom>
          <a:solidFill>
            <a:srgbClr val="EC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75104"/>
            <a:ext cx="21472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D366B"/>
                </a:solidFill>
                <a:latin typeface="Meiryo UI"/>
                <a:ea typeface="Meiryo UI"/>
                <a:cs typeface="Meiryo UI"/>
              </a:rPr>
              <a:t>3つの公式データ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22576"/>
            <a:ext cx="21472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学童クラブ実施状況</a:t>
            </a:r>
          </a:p>
          <a:p>
            <a:pPr>
              <a:lnSpc>
                <a:spcPct val="132000"/>
              </a:lnSpc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教育人口等推計（3世代）</a:t>
            </a:r>
          </a:p>
          <a:p>
            <a:pPr>
              <a:lnSpc>
                <a:spcPct val="132000"/>
              </a:lnSpc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公立学校一覧 1,241校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25647" y="2450592"/>
            <a:ext cx="228600" cy="0"/>
          </a:xfrm>
          <a:prstGeom prst="line">
            <a:avLst/>
          </a:prstGeom>
          <a:ln w="25400">
            <a:solidFill>
              <a:srgbClr val="1C5CA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427399" y="1810512"/>
            <a:ext cx="2476423" cy="50292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7399" y="1860804"/>
            <a:ext cx="2476423" cy="1170432"/>
          </a:xfrm>
          <a:prstGeom prst="rect">
            <a:avLst/>
          </a:prstGeom>
          <a:solidFill>
            <a:srgbClr val="EC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1991" y="1975104"/>
            <a:ext cx="21472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D366B"/>
                </a:solidFill>
                <a:latin typeface="Meiryo UI"/>
                <a:ea typeface="Meiryo UI"/>
                <a:cs typeface="Meiryo UI"/>
              </a:rPr>
              <a:t>結合して整える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1991" y="2322576"/>
            <a:ext cx="21472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ヘッダ6行・区市別2ブロックの</a:t>
            </a:r>
          </a:p>
          <a:p>
            <a:pPr>
              <a:lnSpc>
                <a:spcPct val="132000"/>
              </a:lnSpc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年次CSVを正規化し、</a:t>
            </a:r>
          </a:p>
          <a:p>
            <a:pPr>
              <a:lnSpc>
                <a:spcPct val="132000"/>
              </a:lnSpc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49自治体×12年度に揃える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86119" y="2450592"/>
            <a:ext cx="228600" cy="0"/>
          </a:xfrm>
          <a:prstGeom prst="line">
            <a:avLst/>
          </a:prstGeom>
          <a:ln w="25400">
            <a:solidFill>
              <a:srgbClr val="1C5CA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287871" y="1810512"/>
            <a:ext cx="2476423" cy="50292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87871" y="1860804"/>
            <a:ext cx="2476423" cy="1170432"/>
          </a:xfrm>
          <a:prstGeom prst="rect">
            <a:avLst/>
          </a:prstGeom>
          <a:solidFill>
            <a:srgbClr val="EC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2463" y="1975104"/>
            <a:ext cx="21472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D366B"/>
                </a:solidFill>
                <a:latin typeface="Meiryo UI"/>
                <a:ea typeface="Meiryo UI"/>
                <a:cs typeface="Meiryo UI"/>
              </a:rPr>
              <a:t>予測する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2463" y="2322576"/>
            <a:ext cx="21472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都の公式推計を読み、切れる</a:t>
            </a:r>
          </a:p>
          <a:p>
            <a:pPr>
              <a:lnSpc>
                <a:spcPct val="132000"/>
              </a:lnSpc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2031年度以降は全都の伸び率で接続。</a:t>
            </a:r>
          </a:p>
          <a:p>
            <a:pPr>
              <a:lnSpc>
                <a:spcPct val="132000"/>
              </a:lnSpc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登録率は最小二乗＋縮約推定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846591" y="2450592"/>
            <a:ext cx="228600" cy="0"/>
          </a:xfrm>
          <a:prstGeom prst="line">
            <a:avLst/>
          </a:prstGeom>
          <a:ln w="25400">
            <a:solidFill>
              <a:srgbClr val="1C5CA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9148343" y="1810512"/>
            <a:ext cx="2476423" cy="50292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8343" y="1860804"/>
            <a:ext cx="2476423" cy="1170432"/>
          </a:xfrm>
          <a:prstGeom prst="rect">
            <a:avLst/>
          </a:prstGeom>
          <a:solidFill>
            <a:srgbClr val="EC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12935" y="1975104"/>
            <a:ext cx="21472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D366B"/>
                </a:solidFill>
                <a:latin typeface="Meiryo UI"/>
                <a:ea typeface="Meiryo UI"/>
                <a:cs typeface="Meiryo UI"/>
              </a:rPr>
              <a:t>外れ幅を測る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12935" y="2322576"/>
            <a:ext cx="21472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推計3世代を突き合わせ、</a:t>
            </a:r>
          </a:p>
          <a:p>
            <a:pPr>
              <a:lnSpc>
                <a:spcPct val="132000"/>
              </a:lnSpc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実際に何%外れたかを算出。</a:t>
            </a:r>
          </a:p>
          <a:p>
            <a:pPr>
              <a:lnSpc>
                <a:spcPct val="132000"/>
              </a:lnSpc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帯はその実測から引く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291840"/>
            <a:ext cx="5074920" cy="329184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0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予測が外れた幅（実測・絶対誤差平均）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566928" y="3675888"/>
          <a:ext cx="5074920" cy="187451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66928" y="5596128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Meiryo UI"/>
                <a:ea typeface="Meiryo UI"/>
                <a:cs typeface="Meiryo UI"/>
              </a:rPr>
              <a:t>令和5・6年度版が出した推計を、令和7年度の実数と突き合わせた結果（49自治体）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888736" y="3291840"/>
            <a:ext cx="0" cy="2670048"/>
          </a:xfrm>
          <a:prstGeom prst="line">
            <a:avLst/>
          </a:prstGeom>
          <a:ln w="12700">
            <a:solidFill>
              <a:srgbClr val="D5D5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6144768" y="3291840"/>
            <a:ext cx="5477256" cy="329184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0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測っていないことは、測っていないと書く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3785616"/>
            <a:ext cx="5477256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0D366B"/>
                </a:solidFill>
                <a:latin typeface="Meiryo UI"/>
                <a:ea typeface="Meiryo UI"/>
                <a:cs typeface="Meiryo UI"/>
              </a:rPr>
              <a:t>2031年度から先</a:t>
            </a:r>
          </a:p>
          <a:p>
            <a:pPr>
              <a:lnSpc>
                <a:spcPct val="132000"/>
              </a:lnSpc>
              <a:spcAft>
                <a:spcPts val="700"/>
              </a:spcAft>
            </a:pPr>
            <a:r>
              <a:rPr sz="100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都の公式推計が切れるので「接続した推定」と画面に明記し、帯を1.5倍に広げる</a:t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0D366B"/>
                </a:solidFill>
                <a:latin typeface="Meiryo UI"/>
                <a:ea typeface="Meiryo UI"/>
                <a:cs typeface="Meiryo UI"/>
              </a:rPr>
              <a:t>自治体別トレンド</a:t>
            </a:r>
          </a:p>
          <a:p>
            <a:pPr>
              <a:lnSpc>
                <a:spcPct val="132000"/>
              </a:lnSpc>
              <a:spcAft>
                <a:spcPts val="700"/>
              </a:spcAft>
            </a:pPr>
            <a:r>
              <a:rPr sz="100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推定する仕組みは実装済み。ただし時点が2つしかない今は都全体の実測値にフォールバックしている、と画面に出す</a:t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0D366B"/>
                </a:solidFill>
                <a:latin typeface="Meiryo UI"/>
                <a:ea typeface="Meiryo UI"/>
                <a:cs typeface="Meiryo UI"/>
              </a:rPr>
              <a:t>データがない自治体</a:t>
            </a:r>
          </a:p>
          <a:p>
            <a:pPr>
              <a:lnSpc>
                <a:spcPct val="132000"/>
              </a:lnSpc>
              <a:spcAft>
                <a:spcPts val="700"/>
              </a:spcAft>
            </a:pPr>
            <a:r>
              <a:rPr sz="100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0点ではなく灰色で描く。「足りている」と「分からない」を同じ色にしない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382512"/>
            <a:ext cx="10234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750" b="0">
                <a:solidFill>
                  <a:srgbClr val="9A9A9A"/>
                </a:solidFill>
                <a:latin typeface="Meiryo UI"/>
                <a:ea typeface="Meiryo UI"/>
                <a:cs typeface="Meiryo UI"/>
              </a:rPr>
              <a:t>出典：東京都福祉局「東京の学童クラブ事業実施状況」／東京都教育庁「教育人口等推計」／東京都教育庁「公立学校統計調査報告書（東京都公立学校一覧）」（いずれも東京都オープンデータカタログ・CC BY 4.0）。バックテストは src/core/backtest.ts と npm test で再現できる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76127" y="638251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9A9A"/>
                </a:solidFill>
                <a:latin typeface="Meiryo UI"/>
                <a:ea typeface="Meiryo UI"/>
                <a:cs typeface="Meiryo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600" b="1">
                <a:solidFill>
                  <a:srgbClr val="1C5CAB"/>
                </a:solidFill>
                <a:latin typeface="Meiryo UI"/>
                <a:ea typeface="Meiryo UI"/>
                <a:cs typeface="Meiryo UI"/>
              </a:rPr>
              <a:t>同じ器のまま、解ける課題を上に広げていく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225296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5A5A5A"/>
                </a:solidFill>
                <a:latin typeface="Meiryo UI"/>
                <a:ea typeface="Meiryo UI"/>
                <a:cs typeface="Meiryo UI"/>
              </a:rPr>
              <a:t>1枚目の木を、この順で登る。器（Indicator 配列）は変えず、軸を足すだけ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3346704"/>
            <a:ext cx="3483864" cy="50292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3396996"/>
            <a:ext cx="3483864" cy="1298448"/>
          </a:xfrm>
          <a:prstGeom prst="rect">
            <a:avLst/>
          </a:prstGeom>
          <a:solidFill>
            <a:srgbClr val="EC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8" y="3511296"/>
            <a:ext cx="786384" cy="237744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9343" y="3529584"/>
            <a:ext cx="22585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Meiryo UI"/>
                <a:ea typeface="Meiryo UI"/>
                <a:cs typeface="Meiryo UI"/>
              </a:rPr>
              <a:t>いま（v1）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822191"/>
            <a:ext cx="311810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0D366B"/>
                </a:solidFill>
                <a:latin typeface="Meiryo UI"/>
                <a:ea typeface="Meiryo UI"/>
                <a:cs typeface="Meiryo UI"/>
              </a:rPr>
              <a:t>その街で、学童に入れるか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224528"/>
            <a:ext cx="311810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学童の受け皿リスクを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49自治体 × 12年度で比べる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087368" y="3072384"/>
            <a:ext cx="228600" cy="640080"/>
          </a:xfrm>
          <a:prstGeom prst="line">
            <a:avLst/>
          </a:prstGeom>
          <a:ln w="25400">
            <a:solidFill>
              <a:srgbClr val="5598E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352544" y="2651760"/>
            <a:ext cx="3483864" cy="50292"/>
          </a:xfrm>
          <a:prstGeom prst="rect">
            <a:avLst/>
          </a:prstGeom>
          <a:solidFill>
            <a:srgbClr val="5598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2544" y="2702052"/>
            <a:ext cx="3483864" cy="1298448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35424" y="2816352"/>
            <a:ext cx="786384" cy="237744"/>
          </a:xfrm>
          <a:prstGeom prst="rect">
            <a:avLst/>
          </a:prstGeom>
          <a:solidFill>
            <a:srgbClr val="5598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59" y="2834640"/>
            <a:ext cx="22585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Meiryo UI"/>
                <a:ea typeface="Meiryo UI"/>
                <a:cs typeface="Meiryo UI"/>
              </a:rPr>
              <a:t>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3127248"/>
            <a:ext cx="311810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0D366B"/>
                </a:solidFill>
                <a:latin typeface="Meiryo UI"/>
                <a:ea typeface="Meiryo UI"/>
                <a:cs typeface="Meiryo UI"/>
              </a:rPr>
              <a:t>その街で、両立を続けられるか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3529584"/>
            <a:ext cx="311810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通勤時間・保育園の空き・学区を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同じ器に軸として足す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7872983" y="2377440"/>
            <a:ext cx="228600" cy="640080"/>
          </a:xfrm>
          <a:prstGeom prst="line">
            <a:avLst/>
          </a:prstGeom>
          <a:ln w="25400">
            <a:solidFill>
              <a:srgbClr val="5598E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138159" y="1956816"/>
            <a:ext cx="3483864" cy="50292"/>
          </a:xfrm>
          <a:prstGeom prst="rect">
            <a:avLst/>
          </a:prstGeom>
          <a:solidFill>
            <a:srgbClr val="5598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59" y="2007108"/>
            <a:ext cx="3483864" cy="1298448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21039" y="2121408"/>
            <a:ext cx="786384" cy="237744"/>
          </a:xfrm>
          <a:prstGeom prst="rect">
            <a:avLst/>
          </a:prstGeom>
          <a:solidFill>
            <a:srgbClr val="5598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STEP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0576" y="2139696"/>
            <a:ext cx="22585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Meiryo UI"/>
                <a:ea typeface="Meiryo UI"/>
                <a:cs typeface="Meiryo UI"/>
              </a:rPr>
              <a:t>その先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39" y="2432304"/>
            <a:ext cx="311810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0D366B"/>
                </a:solidFill>
                <a:latin typeface="Meiryo UI"/>
                <a:ea typeface="Meiryo UI"/>
                <a:cs typeface="Meiryo UI"/>
              </a:rPr>
              <a:t>どの街に、どれだけ受け皿が要るか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39" y="2834640"/>
            <a:ext cx="311810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使い手が住民から自治体へ。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整備計画の需給見通しに同じ数字を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864608"/>
            <a:ext cx="11057839" cy="50292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0" bIns="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4914900"/>
            <a:ext cx="11057839" cy="1005840"/>
          </a:xfrm>
          <a:prstGeom prst="rect">
            <a:avLst/>
          </a:prstGeom>
          <a:solidFill>
            <a:srgbClr val="EC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029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D366B"/>
                </a:solidFill>
                <a:latin typeface="Meiryo UI"/>
                <a:ea typeface="Meiryo UI"/>
                <a:cs typeface="Meiryo UI"/>
              </a:rPr>
              <a:t>この階段を登れる理由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376672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使うのは毎年更新される都の公式データだけ。</a:t>
            </a:r>
          </a:p>
          <a:p>
            <a:pPr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APIキーもDBもサーバーも持たない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35040" y="5029200"/>
            <a:ext cx="0" cy="731520"/>
          </a:xfrm>
          <a:prstGeom prst="line">
            <a:avLst/>
          </a:prstGeom>
          <a:ln w="12700">
            <a:solidFill>
              <a:srgbClr val="D5D5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263640" y="502920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年1回データを差し替えれば動き続ける（静的配信 501KB／gzip 161KB）。</a:t>
            </a:r>
          </a:p>
          <a:p>
            <a:pPr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軸を足しても画面もヒートマップも変更が要らない（要件 FR-9）。</a:t>
            </a:r>
          </a:p>
          <a:p>
            <a:pPr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運用コストは実質ゼロ。作った人が抜けても止まらない。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6035040"/>
            <a:ext cx="11057839" cy="566928"/>
          </a:xfrm>
          <a:prstGeom prst="rect">
            <a:avLst/>
          </a:prstGeom>
          <a:solidFill>
            <a:srgbClr val="EC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D366B"/>
                </a:solidFill>
                <a:latin typeface="Meiryo UI"/>
                <a:ea typeface="Meiryo UI"/>
                <a:cs typeface="Meiryo UI"/>
              </a:rPr>
              <a:t>一年生になったら、その街はどうなっているか。先に、見にいける。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382512"/>
            <a:ext cx="10234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750" b="0">
                <a:solidFill>
                  <a:srgbClr val="9A9A9A"/>
                </a:solidFill>
                <a:latin typeface="Meiryo UI"/>
                <a:ea typeface="Meiryo UI"/>
                <a:cs typeface="Meiryo UI"/>
              </a:rPr>
              <a:t>出典：東京都オープンデータカタログ（CC BY 4.0）。配信サイズは npm run build の実測値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76127" y="638251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9A9A"/>
                </a:solidFill>
                <a:latin typeface="Meiryo UI"/>
                <a:ea typeface="Meiryo UI"/>
                <a:cs typeface="Meiryo UI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