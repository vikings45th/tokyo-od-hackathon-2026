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誤差</c:v>
                </c:pt>
              </c:strCache>
            </c:strRef>
          </c:tx>
          <c:dPt>
            <c:idx val="0"/>
            <c:spPr>
              <a:solidFill>
                <a:srgbClr val="86B6EF"/>
              </a:solidFill>
            </c:spPr>
          </c:dPt>
          <c:dPt>
            <c:idx val="1"/>
            <c:spPr>
              <a:solidFill>
                <a:srgbClr val="1C5CAB"/>
              </a:solidFill>
            </c:spPr>
          </c:dPt>
          <c:cat>
            <c:strRef>
              <c:f>Sheet1!$A$2:$A$3</c:f>
              <c:strCache>
                <c:ptCount val="2"/>
                <c:pt idx="0">
                  <c:v>1年先</c:v>
                </c:pt>
                <c:pt idx="1">
                  <c:v>2年先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0.93</c:v>
                </c:pt>
                <c:pt idx="1">
                  <c:v>1.37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800" b="1">
                  <a:solidFill>
                    <a:srgbClr val="0D366B"/>
                  </a:solidFill>
                  <a:latin typeface="Meiryo UI"/>
                  <a:ea typeface="Meiryo UI"/>
                  <a:cs typeface="Meiryo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5D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  <a:latin typeface="Meiryo UI"/>
          <a:ea typeface="Meiryo UI"/>
          <a:cs typeface="Meiryo UI"/>
        </a:defRPr>
      </a:pPr>
      <a:endParaRPr lang="en-US">
        <a:latin typeface="Meiryo UI"/>
        <a:ea typeface="Meiryo UI"/>
        <a:cs typeface="Meiryo UI"/>
      </a:endParaR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児童数が減っても、学童は足りなくなる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1673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東京49自治体・2025年5月1日時点の実測と、受け皿を据え置いた場合の試算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664208"/>
            <a:ext cx="3503066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14500"/>
            <a:ext cx="3503066" cy="138988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28800"/>
            <a:ext cx="31007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146,393人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32304"/>
            <a:ext cx="31007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学童に登録している児童。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公立小学校児童 589,912人の 4人に1人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871216"/>
            <a:ext cx="31007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2025年5月1日・49自治体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4314" y="1664208"/>
            <a:ext cx="3503066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4314" y="1714500"/>
            <a:ext cx="3503066" cy="138988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5482" y="1828800"/>
            <a:ext cx="31007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+5.9%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5482" y="2432304"/>
            <a:ext cx="31007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2年で増えた学童の需要（登録＋待機）。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同じ2年で児童数は −0.8%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5482" y="2871216"/>
            <a:ext cx="31007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2023年5月→2025年5月・48自治体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1700" y="1664208"/>
            <a:ext cx="3503066" cy="5029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1700" y="1714500"/>
            <a:ext cx="3503066" cy="138988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2868" y="1828800"/>
            <a:ext cx="31007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19,573人分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2868" y="2432304"/>
            <a:ext cx="31007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受け皿が今のままなら、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2038年度に足りない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2868" y="2871216"/>
            <a:ext cx="31007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本サービスの試算・46/49自治体で不足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3310128"/>
            <a:ext cx="11057839" cy="0"/>
          </a:xfrm>
          <a:prstGeom prst="line">
            <a:avLst/>
          </a:prstGeom>
          <a:ln w="12700">
            <a:solidFill>
              <a:srgbClr val="D5D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3511296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そして、足りないと気づくのは 家を買った6年後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4526280"/>
            <a:ext cx="9326880" cy="0"/>
          </a:xfrm>
          <a:prstGeom prst="line">
            <a:avLst/>
          </a:prstGeom>
          <a:ln w="25400">
            <a:solidFill>
              <a:srgbClr val="D5D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112264" y="4398264"/>
            <a:ext cx="256032" cy="256032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39896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2026年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823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第一子が0歳。住宅ローンを組む</a:t>
            </a:r>
          </a:p>
        </p:txBody>
      </p:sp>
      <p:sp>
        <p:nvSpPr>
          <p:cNvPr id="25" name="Oval 24"/>
          <p:cNvSpPr/>
          <p:nvPr/>
        </p:nvSpPr>
        <p:spPr>
          <a:xfrm>
            <a:off x="9793224" y="4398264"/>
            <a:ext cx="256032" cy="256032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3739896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2032年 4月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7823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子が小1。学童に入れない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77639" y="4526280"/>
            <a:ext cx="5696713" cy="0"/>
          </a:xfrm>
          <a:prstGeom prst="line">
            <a:avLst/>
          </a:prstGeom>
          <a:ln w="31750">
            <a:solidFill>
              <a:srgbClr val="1C5C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577840" y="4297680"/>
            <a:ext cx="1051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6年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440680"/>
            <a:ext cx="11057839" cy="56692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保育園の壁は下がった。壁が消えたのではなく、小学校に移っただけ。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出典：東京都福祉局「東京の学童クラブ事業実施状況」／東京都教育庁「教育人口等推計」（東京都オープンデータカタログ・CC BY 4.0）。需要の伸びは計上方法が変わった江戸川区を除く48自治体で実測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生まれ年を入れるだけで、その子が小1になる年の東京が出る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小1で選ぶ街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6148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東京49自治体 × 入学年度2027〜2038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3474720"/>
            <a:ext cx="329184" cy="329184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352043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生まれ年を入れる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4133087"/>
            <a:ext cx="329184" cy="329184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4178807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小1になる年度が決まる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4791456"/>
            <a:ext cx="329184" cy="329184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83717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A1A1A"/>
                </a:solidFill>
                <a:latin typeface="Meiryo UI"/>
                <a:ea typeface="Meiryo UI"/>
                <a:cs typeface="Meiryo UI"/>
              </a:rPr>
              <a:t>49自治体が並ぶ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828800"/>
            <a:ext cx="6821424" cy="4069080"/>
          </a:xfrm>
          <a:prstGeom prst="rect">
            <a:avLst/>
          </a:prstGeom>
          <a:solidFill>
            <a:srgbClr val="ECF2FB"/>
          </a:solidFill>
          <a:ln w="15875">
            <a:solidFill>
              <a:srgbClr val="5598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▶ ここに実画面のキャプチャ（地図）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2031年度・49自治体のコロプレス。
推奨：横1680px以上／枠は 7.46 × 4.45 inch（比率 1.68 : 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実際の画面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11057839" cy="5074920"/>
          </a:xfrm>
          <a:prstGeom prst="rect">
            <a:avLst/>
          </a:prstGeom>
          <a:solidFill>
            <a:srgbClr val="ECF2FB"/>
          </a:solidFill>
          <a:ln w="15875">
            <a:solidFill>
              <a:srgbClr val="5598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▶ ここに実画面のキャプチャ／画面録画（全画面）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中央区を選択 → 2031年度 →「882人分、足りない」→ 隣接区の比較。
動画では40秒。枠は 12.09 × 5.55 inch（比率 2.18 : 1）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417320"/>
            <a:ext cx="3246120" cy="1188720"/>
          </a:xfrm>
          <a:prstGeom prst="rect">
            <a:avLst/>
          </a:prstGeom>
          <a:solidFill>
            <a:srgbClr val="FFFFFF"/>
          </a:solidFill>
          <a:ln w="2222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2031年度・中央区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882人分、足りない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多く見れば 1,543人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6492240" y="2011680"/>
            <a:ext cx="1097280" cy="640080"/>
          </a:xfrm>
          <a:prstGeom prst="line">
            <a:avLst/>
          </a:prstGeom>
          <a:ln w="19050">
            <a:solidFill>
              <a:srgbClr val="1C5C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016752"/>
            <a:ext cx="110578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※ 待機児童数では順位が付かない — 49自治体のうち18はゼロ。このサービスは「あなたの子が小1になる年」で並べ替える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予測が何%外れるかを、自分で答え合わせした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1673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都の教育人口等推計を3ヴィンテージ突き合わせ、49自治体で実測（src/core/backtest.ts で再現できる）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10512"/>
            <a:ext cx="5074920" cy="329184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予測の外れ幅（実測・絶対誤差平均）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2212848"/>
          <a:ext cx="507492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956048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令和5・6年度版が出した推計を、令和7年度の実数と突き合わせた結果。いま出回っている推計が実際どれだけ外れたかを測っている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88736" y="1810512"/>
            <a:ext cx="0" cy="3310128"/>
          </a:xfrm>
          <a:prstGeom prst="line">
            <a:avLst/>
          </a:prstGeom>
          <a:ln w="12700">
            <a:solidFill>
              <a:srgbClr val="D5D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144768" y="1810512"/>
            <a:ext cx="5477256" cy="329184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需要の予測区間（帯つき）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2212848"/>
            <a:ext cx="5477256" cy="2743200"/>
          </a:xfrm>
          <a:prstGeom prst="rect">
            <a:avLst/>
          </a:prstGeom>
          <a:solidFill>
            <a:srgbClr val="ECF2FB"/>
          </a:solidFill>
          <a:ln w="15875">
            <a:solidFill>
              <a:srgbClr val="5598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C5CAB"/>
                </a:solidFill>
                <a:latin typeface="Meiryo UI"/>
                <a:ea typeface="Meiryo UI"/>
                <a:cs typeface="Meiryo UI"/>
              </a:rPr>
              <a:t>▶ ここに実画面のキャプチャ（折れ線＋帯）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詳細画面の「必要な数／入れる数」と予測区間。
枠は 5.99 × 3.00 inch（比率 2.00 : 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5065776"/>
            <a:ext cx="5477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Meiryo UI"/>
                <a:ea typeface="Meiryo UI"/>
                <a:cs typeface="Meiryo UI"/>
              </a:rPr>
              <a:t>帯には児童数の推計誤差と、登録率トレンドの不確かさの両方が入っている。測っていないことは、測っていないと書く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14416"/>
            <a:ext cx="11057839" cy="566928"/>
          </a:xfrm>
          <a:prstGeom prst="rect">
            <a:avLst/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D366B"/>
                </a:solidFill>
                <a:latin typeface="Meiryo UI"/>
                <a:ea typeface="Meiryo UI"/>
                <a:cs typeface="Meiryo UI"/>
              </a:rPr>
              <a:t>学童は1本目の軸。同じ器に、通勤時間も住宅価格も入る。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10234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出典：東京都福祉局「東京の学童クラブ事業実施状況」／東京都教育庁「教育人口等推計」／東京都教育庁「公立学校統計調査報告書（東京都公立学校一覧）」（いずれも東京都オープンデータカタログ・CC BY 4.0）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76127" y="638251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A9A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