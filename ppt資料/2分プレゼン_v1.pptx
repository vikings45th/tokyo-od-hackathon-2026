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誤差</c:v>
                </c:pt>
              </c:strCache>
            </c:strRef>
          </c:tx>
          <c:dPt>
            <c:idx val="0"/>
            <c:spPr>
              <a:solidFill>
                <a:srgbClr val="86B6EF"/>
              </a:solidFill>
            </c:spPr>
          </c:dPt>
          <c:dPt>
            <c:idx val="1"/>
            <c:spPr>
              <a:solidFill>
                <a:srgbClr val="1C5CAB"/>
              </a:solidFill>
            </c:spPr>
          </c:dPt>
          <c:cat>
            <c:strRef>
              <c:f>Sheet1!$A$2:$A$3</c:f>
              <c:strCache>
                <c:ptCount val="2"/>
                <c:pt idx="0">
                  <c:v>1年先</c:v>
                </c:pt>
                <c:pt idx="1">
                  <c:v>2年先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0.93</c:v>
                </c:pt>
                <c:pt idx="1">
                  <c:v>1.37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sz="1800" b="1">
                  <a:solidFill>
                    <a:srgbClr val="0D366B"/>
                  </a:solidFill>
                  <a:latin typeface="Meiryo UI"/>
                  <a:ea typeface="Meiryo UI"/>
                  <a:cs typeface="Meiryo U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1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5D1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  <a:latin typeface="Meiryo UI"/>
          <a:ea typeface="Meiryo UI"/>
          <a:cs typeface="Meiryo UI"/>
        </a:defRPr>
      </a:pPr>
      <a:endParaRPr lang="en-US">
        <a:latin typeface="Meiryo UI"/>
        <a:ea typeface="Meiryo UI"/>
        <a:cs typeface="Meiryo UI"/>
      </a:endParaRPr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2600" b="1">
                <a:solidFill>
                  <a:srgbClr val="1C5CAB"/>
                </a:solidFill>
                <a:latin typeface="Meiryo UI"/>
                <a:ea typeface="Meiryo UI"/>
                <a:cs typeface="Meiryo UI"/>
              </a:rPr>
              <a:t>家を買う年と、学童に入れない年が、6年ずれている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316736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A5A5A"/>
                </a:solidFill>
                <a:latin typeface="Meiryo UI"/>
                <a:ea typeface="Meiryo UI"/>
                <a:cs typeface="Meiryo UI"/>
              </a:rPr>
              <a:t>意思決定する時点と、痛みが出る時点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417320" y="3520440"/>
            <a:ext cx="9326880" cy="0"/>
          </a:xfrm>
          <a:prstGeom prst="line">
            <a:avLst/>
          </a:prstGeom>
          <a:ln w="25400">
            <a:solidFill>
              <a:srgbClr val="D5D5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2103120" y="3383280"/>
            <a:ext cx="274320" cy="274320"/>
          </a:xfrm>
          <a:prstGeom prst="ellipse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56032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5A5A5A"/>
                </a:solidFill>
                <a:latin typeface="Meiryo UI"/>
                <a:ea typeface="Meiryo UI"/>
                <a:cs typeface="Meiryo UI"/>
              </a:rPr>
              <a:t>2026年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31336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350" b="0">
                <a:solidFill>
                  <a:srgbClr val="5A5A5A"/>
                </a:solidFill>
                <a:latin typeface="Meiryo UI"/>
                <a:ea typeface="Meiryo UI"/>
                <a:cs typeface="Meiryo UI"/>
              </a:rPr>
              <a:t>第一子が0歳。</a:t>
            </a:r>
          </a:p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350" b="0">
                <a:solidFill>
                  <a:srgbClr val="5A5A5A"/>
                </a:solidFill>
                <a:latin typeface="Meiryo UI"/>
                <a:ea typeface="Meiryo UI"/>
                <a:cs typeface="Meiryo UI"/>
              </a:rPr>
              <a:t>住宅ローンを組む</a:t>
            </a:r>
          </a:p>
        </p:txBody>
      </p:sp>
      <p:sp>
        <p:nvSpPr>
          <p:cNvPr id="8" name="Oval 7"/>
          <p:cNvSpPr/>
          <p:nvPr/>
        </p:nvSpPr>
        <p:spPr>
          <a:xfrm>
            <a:off x="9784080" y="3383280"/>
            <a:ext cx="274320" cy="274320"/>
          </a:xfrm>
          <a:prstGeom prst="ellipse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66760" y="256032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0D366B"/>
                </a:solidFill>
                <a:latin typeface="Meiryo UI"/>
                <a:ea typeface="Meiryo UI"/>
                <a:cs typeface="Meiryo UI"/>
              </a:rPr>
              <a:t>2032年 4月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3831336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350" b="1">
                <a:solidFill>
                  <a:srgbClr val="1A1A1A"/>
                </a:solidFill>
                <a:latin typeface="Meiryo UI"/>
                <a:ea typeface="Meiryo UI"/>
                <a:cs typeface="Meiryo UI"/>
              </a:rPr>
              <a:t>子が小1。</a:t>
            </a:r>
          </a:p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350" b="1">
                <a:solidFill>
                  <a:srgbClr val="1A1A1A"/>
                </a:solidFill>
                <a:latin typeface="Meiryo UI"/>
                <a:ea typeface="Meiryo UI"/>
                <a:cs typeface="Meiryo UI"/>
              </a:rPr>
              <a:t>学童に入れない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977639" y="3520440"/>
            <a:ext cx="5696713" cy="0"/>
          </a:xfrm>
          <a:prstGeom prst="line">
            <a:avLst/>
          </a:prstGeom>
          <a:ln w="31750">
            <a:solidFill>
              <a:srgbClr val="1C5CA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5577840" y="3273552"/>
            <a:ext cx="1051560" cy="4937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1C5CAB"/>
                </a:solidFill>
                <a:latin typeface="Meiryo UI"/>
                <a:ea typeface="Meiryo UI"/>
                <a:cs typeface="Meiryo UI"/>
              </a:rPr>
              <a:t>6年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846320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>
                <a:solidFill>
                  <a:srgbClr val="5A5A5A"/>
                </a:solidFill>
                <a:latin typeface="Meiryo UI"/>
                <a:ea typeface="Meiryo UI"/>
                <a:cs typeface="Meiryo UI"/>
              </a:rPr>
              <a:t>この6年のあいだに、取り返しのつかない選択が終わっている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5440680"/>
            <a:ext cx="11057839" cy="566928"/>
          </a:xfrm>
          <a:prstGeom prst="rect">
            <a:avLst/>
          </a:prstGeom>
          <a:solidFill>
            <a:srgbClr val="EC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0D366B"/>
                </a:solidFill>
                <a:latin typeface="Meiryo UI"/>
                <a:ea typeface="Meiryo UI"/>
                <a:cs typeface="Meiryo UI"/>
              </a:rPr>
              <a:t>保育園の壁は下がった。壁が消えたのではなく、小学校に移っただけ。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382512"/>
            <a:ext cx="10234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750" b="0">
                <a:solidFill>
                  <a:srgbClr val="9A9A9A"/>
                </a:solidFill>
                <a:latin typeface="Meiryo UI"/>
                <a:ea typeface="Meiryo UI"/>
                <a:cs typeface="Meiryo UI"/>
              </a:rPr>
              <a:t>出典：東京都福祉局「東京の学童クラブ事業実施状況」ほか（東京都オープンデータカタログ・CC BY 4.0）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76127" y="638251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A9A9A"/>
                </a:solidFill>
                <a:latin typeface="Meiryo UI"/>
                <a:ea typeface="Meiryo UI"/>
                <a:cs typeface="Meiryo U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2600" b="1">
                <a:solidFill>
                  <a:srgbClr val="1C5CAB"/>
                </a:solidFill>
                <a:latin typeface="Meiryo UI"/>
                <a:ea typeface="Meiryo UI"/>
                <a:cs typeface="Meiryo UI"/>
              </a:rPr>
              <a:t>生まれ年を入れるだけで、その子が小1になる年の東京が出る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874519"/>
            <a:ext cx="3931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000" b="1">
                <a:solidFill>
                  <a:srgbClr val="1C5CAB"/>
                </a:solidFill>
                <a:latin typeface="Meiryo UI"/>
                <a:ea typeface="Meiryo UI"/>
                <a:cs typeface="Meiryo UI"/>
              </a:rPr>
              <a:t>小1で選ぶ街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761488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A5A5A"/>
                </a:solidFill>
                <a:latin typeface="Meiryo UI"/>
                <a:ea typeface="Meiryo UI"/>
                <a:cs typeface="Meiryo UI"/>
              </a:rPr>
              <a:t>東京49自治体 × 入学年度2027〜2038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3474720"/>
            <a:ext cx="329184" cy="329184"/>
          </a:xfrm>
          <a:prstGeom prst="ellipse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" y="3520439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A1A1A"/>
                </a:solidFill>
                <a:latin typeface="Meiryo UI"/>
                <a:ea typeface="Meiryo UI"/>
                <a:cs typeface="Meiryo UI"/>
              </a:rPr>
              <a:t>生まれ年を入れる</a:t>
            </a:r>
          </a:p>
        </p:txBody>
      </p:sp>
      <p:sp>
        <p:nvSpPr>
          <p:cNvPr id="7" name="Oval 6"/>
          <p:cNvSpPr/>
          <p:nvPr/>
        </p:nvSpPr>
        <p:spPr>
          <a:xfrm>
            <a:off x="566928" y="4133087"/>
            <a:ext cx="329184" cy="329184"/>
          </a:xfrm>
          <a:prstGeom prst="ellipse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" y="4178807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A1A1A"/>
                </a:solidFill>
                <a:latin typeface="Meiryo UI"/>
                <a:ea typeface="Meiryo UI"/>
                <a:cs typeface="Meiryo UI"/>
              </a:rPr>
              <a:t>小1になる年度が決まる</a:t>
            </a:r>
          </a:p>
        </p:txBody>
      </p:sp>
      <p:sp>
        <p:nvSpPr>
          <p:cNvPr id="9" name="Oval 8"/>
          <p:cNvSpPr/>
          <p:nvPr/>
        </p:nvSpPr>
        <p:spPr>
          <a:xfrm>
            <a:off x="566928" y="4791456"/>
            <a:ext cx="329184" cy="329184"/>
          </a:xfrm>
          <a:prstGeom prst="ellipse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483717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A1A1A"/>
                </a:solidFill>
                <a:latin typeface="Meiryo UI"/>
                <a:ea typeface="Meiryo UI"/>
                <a:cs typeface="Meiryo UI"/>
              </a:rPr>
              <a:t>49自治体が並ぶ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00600" y="1828800"/>
            <a:ext cx="6821424" cy="4069080"/>
          </a:xfrm>
          <a:prstGeom prst="rect">
            <a:avLst/>
          </a:prstGeom>
          <a:solidFill>
            <a:srgbClr val="ECF2FB"/>
          </a:solidFill>
          <a:ln w="15875">
            <a:solidFill>
              <a:srgbClr val="5598E7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1C5CAB"/>
                </a:solidFill>
                <a:latin typeface="Meiryo UI"/>
                <a:ea typeface="Meiryo UI"/>
                <a:cs typeface="Meiryo UI"/>
              </a:rPr>
              <a:t>▶ ここに実画面のキャプチャ（地図）</a:t>
            </a:r>
          </a:p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A5A5A"/>
                </a:solidFill>
                <a:latin typeface="Meiryo UI"/>
                <a:ea typeface="Meiryo UI"/>
                <a:cs typeface="Meiryo UI"/>
              </a:rPr>
              <a:t>2031年度・49自治体のコロプレス。
推奨：横1680px以上／枠は 7.46 × 4.45 inch（比率 1.68 : 1）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82512"/>
            <a:ext cx="10234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750" b="0">
                <a:solidFill>
                  <a:srgbClr val="9A9A9A"/>
                </a:solidFill>
                <a:latin typeface="Meiryo UI"/>
                <a:ea typeface="Meiryo UI"/>
                <a:cs typeface="Meiryo UI"/>
              </a:rPr>
              <a:t>出典：東京都福祉局「東京の学童クラブ事業実施状況」／東京都教育庁「教育人口等推計」／東京都教育庁「公立学校統計調査報告書（東京都公立学校一覧）」（いずれも東京都オープンデータカタログ・CC BY 4.0）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76127" y="638251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A9A9A"/>
                </a:solidFill>
                <a:latin typeface="Meiryo UI"/>
                <a:ea typeface="Meiryo UI"/>
                <a:cs typeface="Meiryo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A5A5A"/>
                </a:solidFill>
                <a:latin typeface="Meiryo UI"/>
                <a:ea typeface="Meiryo UI"/>
                <a:cs typeface="Meiryo UI"/>
              </a:rPr>
              <a:t>実際の画面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841248"/>
            <a:ext cx="11057839" cy="5074920"/>
          </a:xfrm>
          <a:prstGeom prst="rect">
            <a:avLst/>
          </a:prstGeom>
          <a:solidFill>
            <a:srgbClr val="ECF2FB"/>
          </a:solidFill>
          <a:ln w="15875">
            <a:solidFill>
              <a:srgbClr val="5598E7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1C5CAB"/>
                </a:solidFill>
                <a:latin typeface="Meiryo UI"/>
                <a:ea typeface="Meiryo UI"/>
                <a:cs typeface="Meiryo UI"/>
              </a:rPr>
              <a:t>▶ ここに実画面のキャプチャ／画面録画（全画面）</a:t>
            </a:r>
          </a:p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A5A5A"/>
                </a:solidFill>
                <a:latin typeface="Meiryo UI"/>
                <a:ea typeface="Meiryo UI"/>
                <a:cs typeface="Meiryo UI"/>
              </a:rPr>
              <a:t>中央区を選択 → 2031年度 →「882人分、足りない」→ 隣接区の比較。
動画では40秒。枠は 12.09 × 5.55 inch（比率 2.18 : 1）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589520" y="1417320"/>
            <a:ext cx="3246120" cy="1188720"/>
          </a:xfrm>
          <a:prstGeom prst="rect">
            <a:avLst/>
          </a:prstGeom>
          <a:solidFill>
            <a:srgbClr val="FFFFFF"/>
          </a:solidFill>
          <a:ln w="22225">
            <a:solidFill>
              <a:srgbClr val="1C5C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Meiryo UI"/>
                <a:ea typeface="Meiryo UI"/>
                <a:cs typeface="Meiryo UI"/>
              </a:rPr>
              <a:t>2031年度・中央区</a:t>
            </a:r>
          </a:p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C5CAB"/>
                </a:solidFill>
                <a:latin typeface="Meiryo UI"/>
                <a:ea typeface="Meiryo UI"/>
                <a:cs typeface="Meiryo UI"/>
              </a:rPr>
              <a:t>882人分、足りない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5A5A5A"/>
                </a:solidFill>
                <a:latin typeface="Meiryo UI"/>
                <a:ea typeface="Meiryo UI"/>
                <a:cs typeface="Meiryo UI"/>
              </a:rPr>
              <a:t>多く見れば 1,543人</a:t>
            </a:r>
          </a:p>
        </p:txBody>
      </p:sp>
      <p:cxnSp>
        <p:nvCxnSpPr>
          <p:cNvPr id="5" name="Connector 4"/>
          <p:cNvCxnSpPr/>
          <p:nvPr/>
        </p:nvCxnSpPr>
        <p:spPr>
          <a:xfrm flipH="1">
            <a:off x="6492240" y="2011680"/>
            <a:ext cx="1097280" cy="640080"/>
          </a:xfrm>
          <a:prstGeom prst="line">
            <a:avLst/>
          </a:prstGeom>
          <a:ln w="19050">
            <a:solidFill>
              <a:srgbClr val="1C5C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016752"/>
            <a:ext cx="110578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A5A5A"/>
                </a:solidFill>
                <a:latin typeface="Meiryo UI"/>
                <a:ea typeface="Meiryo UI"/>
                <a:cs typeface="Meiryo UI"/>
              </a:rPr>
              <a:t>※ 待機児童数では順位が付かない — 49自治体のうち18はゼロ。このサービスは「あなたの子が小1になる年」で並べ替える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10234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750" b="0">
                <a:solidFill>
                  <a:srgbClr val="9A9A9A"/>
                </a:solidFill>
                <a:latin typeface="Meiryo UI"/>
                <a:ea typeface="Meiryo UI"/>
                <a:cs typeface="Meiryo UI"/>
              </a:rPr>
              <a:t>出典：東京都福祉局「東京の学童クラブ事業実施状況」／東京都教育庁「教育人口等推計」／東京都教育庁「公立学校統計調査報告書（東京都公立学校一覧）」（いずれも東京都オープンデータカタログ・CC BY 4.0）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76127" y="638251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A9A9A"/>
                </a:solidFill>
                <a:latin typeface="Meiryo UI"/>
                <a:ea typeface="Meiryo UI"/>
                <a:cs typeface="Meiryo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2600" b="1">
                <a:solidFill>
                  <a:srgbClr val="1C5CAB"/>
                </a:solidFill>
                <a:latin typeface="Meiryo UI"/>
                <a:ea typeface="Meiryo UI"/>
                <a:cs typeface="Meiryo UI"/>
              </a:rPr>
              <a:t>予測が何%外れるかを、自分で答え合わせした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316736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A5A5A"/>
                </a:solidFill>
                <a:latin typeface="Meiryo UI"/>
                <a:ea typeface="Meiryo UI"/>
                <a:cs typeface="Meiryo UI"/>
              </a:rPr>
              <a:t>都の教育人口等推計を3ヴィンテージ突き合わせ、49自治体で実測（src/core/backtest.ts で再現できる）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810512"/>
            <a:ext cx="5074920" cy="329184"/>
          </a:xfrm>
          <a:prstGeom prst="rect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予測の外れ幅（実測・絶対誤差平均）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66928" y="2212848"/>
          <a:ext cx="5074920" cy="2651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956048"/>
            <a:ext cx="5074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A5A5A"/>
                </a:solidFill>
                <a:latin typeface="Meiryo UI"/>
                <a:ea typeface="Meiryo UI"/>
                <a:cs typeface="Meiryo UI"/>
              </a:rPr>
              <a:t>令和5・6年度版が出した推計を、令和7年度の実数と突き合わせた結果。いま出回っている推計が実際どれだけ外れたかを測っている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888736" y="1810512"/>
            <a:ext cx="0" cy="3310128"/>
          </a:xfrm>
          <a:prstGeom prst="line">
            <a:avLst/>
          </a:prstGeom>
          <a:ln w="12700">
            <a:solidFill>
              <a:srgbClr val="D5D5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6144768" y="1810512"/>
            <a:ext cx="5477256" cy="329184"/>
          </a:xfrm>
          <a:prstGeom prst="rect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需要の予測区間（帯つき）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6144768" y="2212848"/>
            <a:ext cx="5477256" cy="2743200"/>
          </a:xfrm>
          <a:prstGeom prst="rect">
            <a:avLst/>
          </a:prstGeom>
          <a:solidFill>
            <a:srgbClr val="ECF2FB"/>
          </a:solidFill>
          <a:ln w="15875">
            <a:solidFill>
              <a:srgbClr val="5598E7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1C5CAB"/>
                </a:solidFill>
                <a:latin typeface="Meiryo UI"/>
                <a:ea typeface="Meiryo UI"/>
                <a:cs typeface="Meiryo UI"/>
              </a:rPr>
              <a:t>▶ ここに実画面のキャプチャ（折れ線＋帯）</a:t>
            </a:r>
          </a:p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A5A5A"/>
                </a:solidFill>
                <a:latin typeface="Meiryo UI"/>
                <a:ea typeface="Meiryo UI"/>
                <a:cs typeface="Meiryo UI"/>
              </a:rPr>
              <a:t>詳細画面の「必要な数／入れる数」と予測区間。
枠は 5.99 × 3.00 inch（比率 2.00 : 1）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5065776"/>
            <a:ext cx="54772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A5A5A"/>
                </a:solidFill>
                <a:latin typeface="Meiryo UI"/>
                <a:ea typeface="Meiryo UI"/>
                <a:cs typeface="Meiryo UI"/>
              </a:rPr>
              <a:t>帯には児童数の推計誤差と、登録率トレンドの不確かさの両方が入っている。測っていないことは、測っていないと書く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5614416"/>
            <a:ext cx="11057839" cy="566928"/>
          </a:xfrm>
          <a:prstGeom prst="rect">
            <a:avLst/>
          </a:prstGeom>
          <a:solidFill>
            <a:srgbClr val="EC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0D366B"/>
                </a:solidFill>
                <a:latin typeface="Meiryo UI"/>
                <a:ea typeface="Meiryo UI"/>
                <a:cs typeface="Meiryo UI"/>
              </a:rPr>
              <a:t>学童は1本目の軸。同じ器に、通勤時間も住宅価格も入る。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82512"/>
            <a:ext cx="10234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750" b="0">
                <a:solidFill>
                  <a:srgbClr val="9A9A9A"/>
                </a:solidFill>
                <a:latin typeface="Meiryo UI"/>
                <a:ea typeface="Meiryo UI"/>
                <a:cs typeface="Meiryo UI"/>
              </a:rPr>
              <a:t>出典：東京都福祉局「東京の学童クラブ事業実施状況」／東京都教育庁「教育人口等推計」／東京都教育庁「公立学校統計調査報告書（東京都公立学校一覧）」（いずれも東京都オープンデータカタログ・CC BY 4.0）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76127" y="638251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A9A9A"/>
                </a:solidFill>
                <a:latin typeface="Meiryo UI"/>
                <a:ea typeface="Meiryo UI"/>
                <a:cs typeface="Meiryo UI"/>
              </a:rPr>
              <a:t>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