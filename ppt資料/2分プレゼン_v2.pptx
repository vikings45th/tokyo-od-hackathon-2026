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誤差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86B6EF"/>
              </a:solidFill>
            </c:spPr>
            <c:extLst>
              <c:ext xmlns:c16="http://schemas.microsoft.com/office/drawing/2014/chart" uri="{C3380CC4-5D6E-409C-BE32-E72D297353CC}">
                <c16:uniqueId val="{00000001-B9EC-4DAA-9124-49C1C467D889}"/>
              </c:ext>
            </c:extLst>
          </c:dPt>
          <c:dPt>
            <c:idx val="1"/>
            <c:invertIfNegative val="1"/>
            <c:bubble3D val="0"/>
            <c:spPr>
              <a:solidFill>
                <a:srgbClr val="1C5CAB"/>
              </a:solidFill>
            </c:spPr>
            <c:extLst>
              <c:ext xmlns:c16="http://schemas.microsoft.com/office/drawing/2014/chart" uri="{C3380CC4-5D6E-409C-BE32-E72D297353CC}">
                <c16:uniqueId val="{00000003-B9EC-4DAA-9124-49C1C467D889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>
                    <a:solidFill>
                      <a:srgbClr val="0D366B"/>
                    </a:solidFill>
                    <a:latin typeface="Meiryo UI"/>
                    <a:ea typeface="Meiryo UI"/>
                    <a:cs typeface="Meiryo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1年先</c:v>
                </c:pt>
                <c:pt idx="1">
                  <c:v>2年先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0.93</c:v>
                </c:pt>
                <c:pt idx="1">
                  <c:v>1.37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EC-4DAA-9124-49C1C467D8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5D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1A1A1A"/>
          </a:solidFill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児童数が減っても、学童は足りなくなる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東京49自治体・2025年5月1日時点の実測と、受け皿を据え置いた場合の試算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74519"/>
            <a:ext cx="3503066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924812"/>
            <a:ext cx="3503066" cy="1463040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2084831"/>
            <a:ext cx="310073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146,393人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724912"/>
            <a:ext cx="310073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学童に登録している児童。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公立小学校児童 589,912人の 4人に1人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163824"/>
            <a:ext cx="310073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2025年5月1日・49自治体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4314" y="1874519"/>
            <a:ext cx="3503066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4314" y="1924812"/>
            <a:ext cx="3503066" cy="1463040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5482" y="2084831"/>
            <a:ext cx="310073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+5.9%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5482" y="2724912"/>
            <a:ext cx="310073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2年で増えた学童の需要（登録＋待機）。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同じ2年で児童数は −0.8%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5482" y="3163824"/>
            <a:ext cx="310073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2023年5月→2025年5月・48自治体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1700" y="1874519"/>
            <a:ext cx="3503066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1700" y="1924812"/>
            <a:ext cx="3503066" cy="1463040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2868" y="2084831"/>
            <a:ext cx="310073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19,573人分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2868" y="2724912"/>
            <a:ext cx="310073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受け皿が今のままなら、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2038年度に足りない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2868" y="3163824"/>
            <a:ext cx="310073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本サービスの試算・46/49自治体で不足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931920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これは、表に出ている数字だけ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待機児童数を見ても順位は付かない — 49自治体のうち19はゼロ。申込前に断念した人は、登録にも待機にも計上されない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303520"/>
            <a:ext cx="11057839" cy="56692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保育園の壁は下がった。壁が消えたのではなく、小学校に移っただけ。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出典：東京都福祉局「東京の学童クラブ事業実施状況」／東京都教育庁「教育人口等推計」（東京都オープンデータカタログ・CC BY 4.0）。需要の伸びは、計上方法が変わった江戸川区を除く48自治体で実測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「小1の壁」の正体は、3つが同時に起きていること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需要は増える／受け皿は増えない／それが数字に出ない。だから「今年の待機児童数」を見ても、自分の街の6年後は分からない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965960"/>
            <a:ext cx="3503066" cy="157276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68096" y="2139696"/>
            <a:ext cx="310896" cy="310896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176272"/>
            <a:ext cx="269839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需要は増えている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15184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共働きが増え、学童を使う子の割合は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年 +0.81pt で上がり続けている。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登録＋待機は2年で +5.9%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236976"/>
            <a:ext cx="310073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48自治体・2023-05→2025-05 の実測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4314" y="1965960"/>
            <a:ext cx="3503066" cy="157276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45482" y="2139696"/>
            <a:ext cx="310896" cy="310896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7818" y="2176272"/>
            <a:ext cx="269839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受け皿は増えていない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5482" y="2615184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2年でクラブが1つも増えていない自治体が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25／49。うち6自治体は減っている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（都計の増加は江戸川区がほぼ全部）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5482" y="3236976"/>
            <a:ext cx="310073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49自治体・クラブ数の実測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1700" y="1965960"/>
            <a:ext cx="3503066" cy="157276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22868" y="2139696"/>
            <a:ext cx="310896" cy="310896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5204" y="2176272"/>
            <a:ext cx="269839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それが数字に出ない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2868" y="2615184"/>
            <a:ext cx="310073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待機児童は49自治体のうち19がゼロ。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申込前に断念した人は、登録にも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待機にも計上されない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2868" y="3236976"/>
            <a:ext cx="310073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2025-05-01 の実測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30752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だから、家を買う時点では、その街の6年後が分からない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7320" y="4846320"/>
            <a:ext cx="9326880" cy="0"/>
          </a:xfrm>
          <a:prstGeom prst="line">
            <a:avLst/>
          </a:prstGeom>
          <a:ln w="25400">
            <a:solidFill>
              <a:srgbClr val="D5D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112264" y="4718304"/>
            <a:ext cx="256032" cy="256032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96511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2026年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8406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第一子が0歳。住宅ローンを組む</a:t>
            </a:r>
          </a:p>
        </p:txBody>
      </p:sp>
      <p:sp>
        <p:nvSpPr>
          <p:cNvPr id="24" name="Oval 23"/>
          <p:cNvSpPr/>
          <p:nvPr/>
        </p:nvSpPr>
        <p:spPr>
          <a:xfrm>
            <a:off x="9793224" y="4718304"/>
            <a:ext cx="256032" cy="256032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79" y="4096511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2032年 4月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508406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子が小1。学童に入れない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77639" y="4846320"/>
            <a:ext cx="5696713" cy="0"/>
          </a:xfrm>
          <a:prstGeom prst="line">
            <a:avLst/>
          </a:prstGeom>
          <a:ln w="3175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577840" y="4617720"/>
            <a:ext cx="1051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6年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4.0）。需要の伸びは src/core/trend.ts、受け皿と待機は data/app/data.json で再現できる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生まれ年を入れるだけで、その子が小1になる年の東京が出る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小1のまち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5768" y="1316736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東京49自治体 × 入学年度2027〜2038 ＝ 588通りを、1画面で比べる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28800"/>
            <a:ext cx="11057839" cy="4023360"/>
          </a:xfrm>
          <a:prstGeom prst="rect">
            <a:avLst/>
          </a:prstGeom>
          <a:solidFill>
            <a:srgbClr val="ECF2FB"/>
          </a:solidFill>
          <a:ln w="15875">
            <a:solidFill>
              <a:srgbClr val="5598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▶ ここに実画面のキャプチャ／画面録画（全画面）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生まれ年を入れる → 地図が入学年度に切り替わる → 中央区を選ぶ →「882人分、足りない」→ 隣接区の比較。
動画では40秒。枠は 12.09 × 4.40 inch（比率 2.75 : 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2331720"/>
            <a:ext cx="3246120" cy="1188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2031年度・中央区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882人分、足りない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多く見れば 1,543人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6583680" y="2926080"/>
            <a:ext cx="1142999" cy="640080"/>
          </a:xfrm>
          <a:prstGeom prst="line">
            <a:avLst/>
          </a:prstGeom>
          <a:ln w="19050">
            <a:solidFill>
              <a:srgbClr val="1C5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5989320"/>
            <a:ext cx="11057839" cy="56692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「今年の待機児童数」ではなく、「あなたの子が小1になる年」で並べ替える。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都の公式データ3種を結合し、予測が外れる幅まで測っている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49自治体 × 12年度 ＝ 588セル。サーバーもDBもAPIキーも使わず、すべてブラウザの中で計算する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10512"/>
            <a:ext cx="2476423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860804"/>
            <a:ext cx="2476423" cy="1170432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75104"/>
            <a:ext cx="2147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3つの公式データ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22576"/>
            <a:ext cx="2147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学童クラブ実施状況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教育人口等推計（3世代）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公立学校一覧 1,241校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25647" y="2450592"/>
            <a:ext cx="228600" cy="0"/>
          </a:xfrm>
          <a:prstGeom prst="line">
            <a:avLst/>
          </a:prstGeom>
          <a:ln w="2540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427399" y="1810512"/>
            <a:ext cx="2476423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7399" y="1860804"/>
            <a:ext cx="2476423" cy="1170432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1991" y="1975104"/>
            <a:ext cx="2147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結合して整える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1991" y="2322576"/>
            <a:ext cx="2147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ヘッダ6行・区市別2ブロックの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年次CSVを正規化し、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49自治体×12年度に揃える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6119" y="2450592"/>
            <a:ext cx="228600" cy="0"/>
          </a:xfrm>
          <a:prstGeom prst="line">
            <a:avLst/>
          </a:prstGeom>
          <a:ln w="2540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87871" y="1810512"/>
            <a:ext cx="2476423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7871" y="1860804"/>
            <a:ext cx="2476423" cy="1170432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2463" y="1975104"/>
            <a:ext cx="2147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予測する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2322576"/>
            <a:ext cx="2147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都の公式推計を読み、切れる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2031年度以降は全都の伸び率で接続。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登録率は最小二乗＋縮約推定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46591" y="2450592"/>
            <a:ext cx="228600" cy="0"/>
          </a:xfrm>
          <a:prstGeom prst="line">
            <a:avLst/>
          </a:prstGeom>
          <a:ln w="2540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8343" y="1810512"/>
            <a:ext cx="2476423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8343" y="1860804"/>
            <a:ext cx="2476423" cy="1170432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12935" y="1975104"/>
            <a:ext cx="2147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外れ幅を測る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2935" y="2322576"/>
            <a:ext cx="2147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推計3世代を突き合わせ、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実際に何%外れたかを算出。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帯はその実測から引く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291840"/>
            <a:ext cx="5074920" cy="329184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予測が外れた幅（実測・絶対誤差平均）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66928" y="3675888"/>
          <a:ext cx="5074920" cy="1874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6928" y="559612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令和5・6年度版が出した推計を、令和7年度の実数と突き合わせた結果（49自治体）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88736" y="3291840"/>
            <a:ext cx="0" cy="2670048"/>
          </a:xfrm>
          <a:prstGeom prst="line">
            <a:avLst/>
          </a:prstGeom>
          <a:ln w="12700">
            <a:solidFill>
              <a:srgbClr val="D5D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144768" y="3291840"/>
            <a:ext cx="5477256" cy="329184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測っていないことは、測っていないと書く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785616"/>
            <a:ext cx="54772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2031年度から先</a:t>
            </a:r>
          </a:p>
          <a:p>
            <a:pPr>
              <a:lnSpc>
                <a:spcPct val="132000"/>
              </a:lnSpc>
              <a:spcAft>
                <a:spcPts val="70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都の公式推計が切れるので「接続した推定」と画面に明記し、帯を1.5倍に広げる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自治体別トレンド</a:t>
            </a:r>
          </a:p>
          <a:p>
            <a:pPr>
              <a:lnSpc>
                <a:spcPct val="132000"/>
              </a:lnSpc>
              <a:spcAft>
                <a:spcPts val="70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推定する仕組みは実装済み。ただし時点が2つしかない今は都全体の実測値にフォールバックしている、と画面に出す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データがない自治体</a:t>
            </a:r>
          </a:p>
          <a:p>
            <a:pPr>
              <a:lnSpc>
                <a:spcPct val="132000"/>
              </a:lnSpc>
              <a:spcAft>
                <a:spcPts val="70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0点ではなく灰色で描く。「足りている」と「分からない」を同じ色にしない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4.0）。バックテストは src/core/backtest.ts と npm test で再現できる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学童は1本目の軸。同じ器に足していける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同じ計算・同じ画面が、住む場所を決める住民にも、受け皿を整える自治体にも使える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920240"/>
            <a:ext cx="3503066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970531"/>
            <a:ext cx="3503066" cy="2103120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2139696"/>
            <a:ext cx="306415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軸を足す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15184"/>
            <a:ext cx="3064154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v1 の軸は学童1本（weight 1.0）。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通勤時間・住宅価格帯・学区評価は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同じ Indicator 配列に足すだけで、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画面もヒートマップも変更が要らない。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785615"/>
            <a:ext cx="30641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要件 FR-9 ／ src/core/indicators/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4314" y="1920240"/>
            <a:ext cx="3503066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4314" y="1970531"/>
            <a:ext cx="3503066" cy="2103120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3770" y="2139696"/>
            <a:ext cx="306415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使い手が広がる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770" y="2615184"/>
            <a:ext cx="3064154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住民：住宅ローンを組む前に、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　　　6年先まで見て決める。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自治体：学童整備計画の需給見通しに、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　　　　同じ数字をそのまま使える。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3770" y="3785615"/>
            <a:ext cx="30641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行政と住民が同じ画面を見る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1700" y="1920240"/>
            <a:ext cx="3503066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1700" y="1970531"/>
            <a:ext cx="3503066" cy="2103120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1156" y="2139696"/>
            <a:ext cx="306415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更新が続く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156" y="2615184"/>
            <a:ext cx="3064154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使うのは毎年更新される都の公式データだけ。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APIキーもDBもサーバーも持たないので、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年1回データを差し替えれば動き続ける。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運用コストは実質ゼロ。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3785615"/>
            <a:ext cx="30641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静的配信 501KB ／ gzip 161KB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89120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都が持っているのに比べられなかったデータを、住民の意思決定に使える形にする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「調べる時間を短縮する」サービスではありません。取り返しのつかない選択を、自分の手で確かめてから下ろすための道具です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486400"/>
            <a:ext cx="11057839" cy="56692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一年生になったら、その街はどうなっているか。先に、見にいける。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636</Words>
  <Application>Microsoft Office PowerPoint</Application>
  <PresentationFormat>ワイド画面</PresentationFormat>
  <Paragraphs>112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Meiryo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yasumitsu Kang</cp:lastModifiedBy>
  <cp:revision>1</cp:revision>
  <dcterms:created xsi:type="dcterms:W3CDTF">2013-01-27T09:14:16Z</dcterms:created>
  <dcterms:modified xsi:type="dcterms:W3CDTF">2026-08-23T05:41:06Z</dcterms:modified>
  <cp:category/>
</cp:coreProperties>
</file>